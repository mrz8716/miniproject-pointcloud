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87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6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2A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RANSAC</c:v>
                </c:pt>
                <c:pt idx="1">
                  <c:v>PCA</c:v>
                </c:pt>
                <c:pt idx="2">
                  <c:v>DBSCAN</c:v>
                </c:pt>
                <c:pt idx="3">
                  <c:v>Hist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0.86399999999999999</c:v>
                </c:pt>
                <c:pt idx="1">
                  <c:v>0.876</c:v>
                </c:pt>
                <c:pt idx="2">
                  <c:v>0.87</c:v>
                </c:pt>
                <c:pt idx="3">
                  <c:v>0.88300000000000001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19-A743-99D0-84706152AB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2"/>
          <c:min val="0.7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ln w="38100" cap="flat">
              <a:solidFill>
                <a:srgbClr val="0E2A3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2A3B"/>
              </a:solidFill>
              <a:ln w="9525" cap="flat">
                <a:solidFill>
                  <a:srgbClr val="0E2A3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0.04</c:v>
                </c:pt>
                <c:pt idx="4">
                  <c:v>0.06</c:v>
                </c:pt>
                <c:pt idx="5">
                  <c:v>0.08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0.96</c:v>
                </c:pt>
                <c:pt idx="1">
                  <c:v>0.93799999999999994</c:v>
                </c:pt>
                <c:pt idx="2">
                  <c:v>0.84299999999999997</c:v>
                </c:pt>
                <c:pt idx="3">
                  <c:v>0.54500000000000004</c:v>
                </c:pt>
                <c:pt idx="4">
                  <c:v>0.41299999999999998</c:v>
                </c:pt>
                <c:pt idx="5">
                  <c:v>0.379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5E6-AE41-8F49-CEE0F57DCE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ln w="38100" cap="flat">
              <a:solidFill>
                <a:srgbClr val="14B8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0.04</c:v>
                </c:pt>
                <c:pt idx="4">
                  <c:v>0.06</c:v>
                </c:pt>
                <c:pt idx="5">
                  <c:v>0.08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0.97</c:v>
                </c:pt>
                <c:pt idx="1">
                  <c:v>0.95299999999999996</c:v>
                </c:pt>
                <c:pt idx="2">
                  <c:v>0.875</c:v>
                </c:pt>
                <c:pt idx="3">
                  <c:v>0.55100000000000005</c:v>
                </c:pt>
                <c:pt idx="4">
                  <c:v>0.374</c:v>
                </c:pt>
                <c:pt idx="5">
                  <c:v>0.32900000000000001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5E6-AE41-8F49-CEE0F57DCEE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IoU</c:v>
                </c:pt>
              </c:strCache>
            </c:strRef>
          </c:tx>
          <c:spPr>
            <a:ln w="38100" cap="flat">
              <a:solidFill>
                <a:srgbClr val="2ECC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0.04</c:v>
                </c:pt>
                <c:pt idx="4">
                  <c:v>0.06</c:v>
                </c:pt>
                <c:pt idx="5">
                  <c:v>0.08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0.94099999999999995</c:v>
                </c:pt>
                <c:pt idx="1">
                  <c:v>0.91100000000000003</c:v>
                </c:pt>
                <c:pt idx="2">
                  <c:v>0.77800000000000002</c:v>
                </c:pt>
                <c:pt idx="3">
                  <c:v>0.38</c:v>
                </c:pt>
                <c:pt idx="4">
                  <c:v>0.23</c:v>
                </c:pt>
                <c:pt idx="5">
                  <c:v>0.19700000000000001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5E6-AE41-8F49-CEE0F57DCE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Vertical noise sigma (m)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AE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222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research study, not a class project: we benchmark four classical point-cloud segmentation methods for finding walkable stair treads, and we quantify how sensor noise degrades them. Target ~10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 on the walkable class matters most: a false positive can cause a 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gap: most stair work jumps to a full system; we isolate the segmentation step on a controlled benchmark and quantify noise robustness with safety in 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Width 2.5 m, tread depth 0.30 m, step height 0.18 m, 4 steps. Ground-truth labels enable quantitative evaluation. Riser i=0 skipped (below floor).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vertical normal component is the shared feature across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Lesson: pure RANSAC and pure DBSCAN have known failure modes on touching surfaces; combining them with normal/slope analysis fixes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Precision–recall trade-off: DBSCAN highest precision, Height Histogram best overall F1/IoU.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recovered cleanly; main errors are at edges and transition 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Sharp drop after 0.02 m motivates high-precision sensing or temporal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Argue that the metric to optimize for a robot is walkable-class precision, not overall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contribution: a reproducible baseline + noise study; deployment needs safety margins and sensor fusion.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280160"/>
            <a:ext cx="4754880" cy="4754880"/>
          </a:xfrm>
          <a:prstGeom prst="ellipse">
            <a:avLst/>
          </a:prstGeom>
          <a:solidFill>
            <a:srgbClr val="133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56215" y="2724576"/>
            <a:ext cx="46079" cy="46079"/>
          </a:xfrm>
          <a:prstGeom prst="ellipse">
            <a:avLst/>
          </a:prstGeom>
          <a:solidFill>
            <a:srgbClr val="14B8A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92190" y="2495728"/>
            <a:ext cx="43041" cy="43041"/>
          </a:xfrm>
          <a:prstGeom prst="ellipse">
            <a:avLst/>
          </a:prstGeom>
          <a:solidFill>
            <a:srgbClr val="2ECC71">
              <a:alpha val="4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00231" y="2093784"/>
            <a:ext cx="59984" cy="59984"/>
          </a:xfrm>
          <a:prstGeom prst="ellipse">
            <a:avLst/>
          </a:prstGeom>
          <a:solidFill>
            <a:srgbClr val="CBD5E1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36586" y="687881"/>
            <a:ext cx="77605" cy="77605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187050" y="1030251"/>
            <a:ext cx="82695" cy="82695"/>
          </a:xfrm>
          <a:prstGeom prst="ellipse">
            <a:avLst/>
          </a:prstGeom>
          <a:solidFill>
            <a:srgbClr val="14B8A6">
              <a:alpha val="5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64407" y="576379"/>
            <a:ext cx="113862" cy="113862"/>
          </a:xfrm>
          <a:prstGeom prst="ellipse">
            <a:avLst/>
          </a:prstGeom>
          <a:solidFill>
            <a:srgbClr val="2ECC71">
              <a:alpha val="3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71784" y="2234280"/>
            <a:ext cx="115226" cy="115226"/>
          </a:xfrm>
          <a:prstGeom prst="ellipse">
            <a:avLst/>
          </a:prstGeom>
          <a:solidFill>
            <a:srgbClr val="CBD5E1">
              <a:alpha val="7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08897" y="2680508"/>
            <a:ext cx="91868" cy="91868"/>
          </a:xfrm>
          <a:prstGeom prst="ellipse">
            <a:avLst/>
          </a:prstGeom>
          <a:solidFill>
            <a:srgbClr val="5EEAD4">
              <a:alpha val="6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4209" y="4511506"/>
            <a:ext cx="73251" cy="73251"/>
          </a:xfrm>
          <a:prstGeom prst="ellipse">
            <a:avLst/>
          </a:prstGeom>
          <a:solidFill>
            <a:srgbClr val="14B8A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53008" y="1755453"/>
            <a:ext cx="49216" cy="49216"/>
          </a:xfrm>
          <a:prstGeom prst="ellipse">
            <a:avLst/>
          </a:prstGeom>
          <a:solidFill>
            <a:srgbClr val="2ECC71">
              <a:alpha val="4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74210" y="1838178"/>
            <a:ext cx="43130" cy="43130"/>
          </a:xfrm>
          <a:prstGeom prst="ellipse">
            <a:avLst/>
          </a:prstGeom>
          <a:solidFill>
            <a:srgbClr val="CBD5E1">
              <a:alpha val="3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81398" y="4084608"/>
            <a:ext cx="75313" cy="75313"/>
          </a:xfrm>
          <a:prstGeom prst="ellipse">
            <a:avLst/>
          </a:prstGeom>
          <a:solidFill>
            <a:srgbClr val="5EEAD4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47299" y="2055559"/>
            <a:ext cx="99030" cy="99030"/>
          </a:xfrm>
          <a:prstGeom prst="ellipse">
            <a:avLst/>
          </a:prstGeom>
          <a:solidFill>
            <a:srgbClr val="14B8A6">
              <a:alpha val="5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24751" y="1307422"/>
            <a:ext cx="73640" cy="73640"/>
          </a:xfrm>
          <a:prstGeom prst="ellipse">
            <a:avLst/>
          </a:prstGeom>
          <a:solidFill>
            <a:srgbClr val="2ECC71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17734" y="2099842"/>
            <a:ext cx="92615" cy="92615"/>
          </a:xfrm>
          <a:prstGeom prst="ellipse">
            <a:avLst/>
          </a:prstGeom>
          <a:solidFill>
            <a:srgbClr val="CBD5E1">
              <a:alpha val="5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71137" y="1732518"/>
            <a:ext cx="72643" cy="72643"/>
          </a:xfrm>
          <a:prstGeom prst="ellipse">
            <a:avLst/>
          </a:prstGeom>
          <a:solidFill>
            <a:srgbClr val="5EEAD4">
              <a:alpha val="5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76997" y="3892399"/>
            <a:ext cx="73669" cy="73669"/>
          </a:xfrm>
          <a:prstGeom prst="ellipse">
            <a:avLst/>
          </a:prstGeom>
          <a:solidFill>
            <a:srgbClr val="14B8A6">
              <a:alpha val="6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9696" y="1361370"/>
            <a:ext cx="97724" cy="97724"/>
          </a:xfrm>
          <a:prstGeom prst="ellipse">
            <a:avLst/>
          </a:prstGeom>
          <a:solidFill>
            <a:srgbClr val="2ECC71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91562" y="3590490"/>
            <a:ext cx="107217" cy="107217"/>
          </a:xfrm>
          <a:prstGeom prst="ellipse">
            <a:avLst/>
          </a:prstGeom>
          <a:solidFill>
            <a:srgbClr val="CBD5E1">
              <a:alpha val="3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72711" y="3984789"/>
            <a:ext cx="98083" cy="98083"/>
          </a:xfrm>
          <a:prstGeom prst="ellipse">
            <a:avLst/>
          </a:prstGeom>
          <a:solidFill>
            <a:srgbClr val="5EEAD4">
              <a:alpha val="5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9045" y="467111"/>
            <a:ext cx="63210" cy="63210"/>
          </a:xfrm>
          <a:prstGeom prst="ellipse">
            <a:avLst/>
          </a:prstGeom>
          <a:solidFill>
            <a:srgbClr val="14B8A6">
              <a:alpha val="6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99773" y="2021156"/>
            <a:ext cx="93023" cy="93023"/>
          </a:xfrm>
          <a:prstGeom prst="ellipse">
            <a:avLst/>
          </a:prstGeom>
          <a:solidFill>
            <a:srgbClr val="2ECC71">
              <a:alpha val="4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78931" y="4388752"/>
            <a:ext cx="37152" cy="37152"/>
          </a:xfrm>
          <a:prstGeom prst="ellipse">
            <a:avLst/>
          </a:prstGeom>
          <a:solidFill>
            <a:srgbClr val="CBD5E1">
              <a:alpha val="6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887540" y="2221226"/>
            <a:ext cx="43936" cy="43936"/>
          </a:xfrm>
          <a:prstGeom prst="ellipse">
            <a:avLst/>
          </a:prstGeom>
          <a:solidFill>
            <a:srgbClr val="5EEAD4">
              <a:alpha val="3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437531" y="4034915"/>
            <a:ext cx="84924" cy="84924"/>
          </a:xfrm>
          <a:prstGeom prst="ellipse">
            <a:avLst/>
          </a:prstGeom>
          <a:solidFill>
            <a:srgbClr val="14B8A6">
              <a:alpha val="5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86857" y="3702209"/>
            <a:ext cx="110334" cy="110334"/>
          </a:xfrm>
          <a:prstGeom prst="ellipse">
            <a:avLst/>
          </a:prstGeom>
          <a:solidFill>
            <a:srgbClr val="2ECC71">
              <a:alpha val="6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36943" y="1015394"/>
            <a:ext cx="94765" cy="94765"/>
          </a:xfrm>
          <a:prstGeom prst="ellipse">
            <a:avLst/>
          </a:prstGeom>
          <a:solidFill>
            <a:srgbClr val="CBD5E1">
              <a:alpha val="4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46595" y="4023447"/>
            <a:ext cx="55490" cy="55490"/>
          </a:xfrm>
          <a:prstGeom prst="ellipse">
            <a:avLst/>
          </a:prstGeom>
          <a:solidFill>
            <a:srgbClr val="5EEAD4">
              <a:alpha val="4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38251" y="523079"/>
            <a:ext cx="43308" cy="43308"/>
          </a:xfrm>
          <a:prstGeom prst="ellipse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718452" y="3860015"/>
            <a:ext cx="105971" cy="105971"/>
          </a:xfrm>
          <a:prstGeom prst="ellipse">
            <a:avLst/>
          </a:prstGeom>
          <a:solidFill>
            <a:srgbClr val="2ECC71">
              <a:alpha val="7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568726" y="584673"/>
            <a:ext cx="59583" cy="59583"/>
          </a:xfrm>
          <a:prstGeom prst="ellipse">
            <a:avLst/>
          </a:prstGeom>
          <a:solidFill>
            <a:srgbClr val="CBD5E1">
              <a:alpha val="5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74871" y="1861763"/>
            <a:ext cx="55529" cy="55529"/>
          </a:xfrm>
          <a:prstGeom prst="ellipse">
            <a:avLst/>
          </a:prstGeom>
          <a:solidFill>
            <a:srgbClr val="5EEAD4">
              <a:alpha val="6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599107" y="940530"/>
            <a:ext cx="50121" cy="50121"/>
          </a:xfrm>
          <a:prstGeom prst="ellipse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020404" y="728992"/>
            <a:ext cx="69773" cy="69773"/>
          </a:xfrm>
          <a:prstGeom prst="ellipse">
            <a:avLst/>
          </a:prstGeom>
          <a:solidFill>
            <a:srgbClr val="2ECC71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13198" y="2109940"/>
            <a:ext cx="37271" cy="37271"/>
          </a:xfrm>
          <a:prstGeom prst="ellipse">
            <a:avLst/>
          </a:prstGeom>
          <a:solidFill>
            <a:srgbClr val="CBD5E1">
              <a:alpha val="4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420670" y="3473578"/>
            <a:ext cx="64374" cy="64374"/>
          </a:xfrm>
          <a:prstGeom prst="ellipse">
            <a:avLst/>
          </a:prstGeom>
          <a:solidFill>
            <a:srgbClr val="5EEAD4">
              <a:alpha val="3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343389" y="3054324"/>
            <a:ext cx="58627" cy="58627"/>
          </a:xfrm>
          <a:prstGeom prst="ellipse">
            <a:avLst/>
          </a:prstGeom>
          <a:solidFill>
            <a:srgbClr val="14B8A6">
              <a:alpha val="6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20271" y="4071770"/>
            <a:ext cx="43397" cy="43397"/>
          </a:xfrm>
          <a:prstGeom prst="ellipse">
            <a:avLst/>
          </a:prstGeom>
          <a:solidFill>
            <a:srgbClr val="2ECC71">
              <a:alpha val="7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99619" y="1644599"/>
            <a:ext cx="39004" cy="39004"/>
          </a:xfrm>
          <a:prstGeom prst="ellipse">
            <a:avLst/>
          </a:prstGeom>
          <a:solidFill>
            <a:srgbClr val="CBD5E1">
              <a:alpha val="5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379440" y="1952350"/>
            <a:ext cx="81008" cy="81008"/>
          </a:xfrm>
          <a:prstGeom prst="ellipse">
            <a:avLst/>
          </a:prstGeom>
          <a:solidFill>
            <a:srgbClr val="5EEAD4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687291" y="2138933"/>
            <a:ext cx="46474" cy="46474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152434" y="2463994"/>
            <a:ext cx="111169" cy="111169"/>
          </a:xfrm>
          <a:prstGeom prst="ellipse">
            <a:avLst/>
          </a:prstGeom>
          <a:solidFill>
            <a:srgbClr val="2ECC7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445038" y="4433469"/>
            <a:ext cx="109486" cy="109486"/>
          </a:xfrm>
          <a:prstGeom prst="ellipse">
            <a:avLst/>
          </a:prstGeom>
          <a:solidFill>
            <a:srgbClr val="CBD5E1">
              <a:alpha val="6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581298" y="3321830"/>
            <a:ext cx="101368" cy="101368"/>
          </a:xfrm>
          <a:prstGeom prst="ellipse">
            <a:avLst/>
          </a:prstGeom>
          <a:solidFill>
            <a:srgbClr val="5EEAD4">
              <a:alpha val="3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746156" y="4529682"/>
            <a:ext cx="88847" cy="88847"/>
          </a:xfrm>
          <a:prstGeom prst="ellipse">
            <a:avLst/>
          </a:prstGeom>
          <a:solidFill>
            <a:srgbClr val="14B8A6">
              <a:alpha val="4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381942" y="683121"/>
            <a:ext cx="116628" cy="116628"/>
          </a:xfrm>
          <a:prstGeom prst="ellipse">
            <a:avLst/>
          </a:prstGeom>
          <a:solidFill>
            <a:srgbClr val="2ECC71">
              <a:alpha val="5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118771" y="2012140"/>
            <a:ext cx="98350" cy="98350"/>
          </a:xfrm>
          <a:prstGeom prst="ellipse">
            <a:avLst/>
          </a:prstGeom>
          <a:solidFill>
            <a:srgbClr val="CBD5E1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597265" y="2233343"/>
            <a:ext cx="109197" cy="109197"/>
          </a:xfrm>
          <a:prstGeom prst="ellipse">
            <a:avLst/>
          </a:prstGeom>
          <a:solidFill>
            <a:srgbClr val="5EEAD4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031914" y="1917947"/>
            <a:ext cx="75001" cy="75001"/>
          </a:xfrm>
          <a:prstGeom prst="ellipse">
            <a:avLst/>
          </a:prstGeom>
          <a:solidFill>
            <a:srgbClr val="14B8A6">
              <a:alpha val="3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141471" y="1014024"/>
            <a:ext cx="92283" cy="92283"/>
          </a:xfrm>
          <a:prstGeom prst="ellipse">
            <a:avLst/>
          </a:prstGeom>
          <a:solidFill>
            <a:srgbClr val="2ECC71">
              <a:alpha val="7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547521" y="2585377"/>
            <a:ext cx="62490" cy="62490"/>
          </a:xfrm>
          <a:prstGeom prst="ellipse">
            <a:avLst/>
          </a:prstGeom>
          <a:solidFill>
            <a:srgbClr val="CBD5E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186151" y="2529626"/>
            <a:ext cx="39471" cy="39471"/>
          </a:xfrm>
          <a:prstGeom prst="ellipse">
            <a:avLst/>
          </a:prstGeom>
          <a:solidFill>
            <a:srgbClr val="5EEAD4">
              <a:alpha val="6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491158" y="3131640"/>
            <a:ext cx="55737" cy="55737"/>
          </a:xfrm>
          <a:prstGeom prst="ellipse">
            <a:avLst/>
          </a:prstGeom>
          <a:solidFill>
            <a:srgbClr val="14B8A6">
              <a:alpha val="4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913403" y="4183705"/>
            <a:ext cx="85888" cy="85888"/>
          </a:xfrm>
          <a:prstGeom prst="ellipse">
            <a:avLst/>
          </a:prstGeom>
          <a:solidFill>
            <a:srgbClr val="2ECC71">
              <a:alpha val="6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736976" y="1116078"/>
            <a:ext cx="64901" cy="64901"/>
          </a:xfrm>
          <a:prstGeom prst="ellipse">
            <a:avLst/>
          </a:prstGeom>
          <a:solidFill>
            <a:srgbClr val="CBD5E1">
              <a:alpha val="6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959032" y="2756671"/>
            <a:ext cx="43574" cy="43574"/>
          </a:xfrm>
          <a:prstGeom prst="ellipse">
            <a:avLst/>
          </a:prstGeom>
          <a:solidFill>
            <a:srgbClr val="5EEAD4">
              <a:alpha val="7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536672" y="1420007"/>
            <a:ext cx="69662" cy="69662"/>
          </a:xfrm>
          <a:prstGeom prst="ellipse">
            <a:avLst/>
          </a:prstGeom>
          <a:solidFill>
            <a:srgbClr val="14B8A6">
              <a:alpha val="5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000867" y="481464"/>
            <a:ext cx="41562" cy="41562"/>
          </a:xfrm>
          <a:prstGeom prst="ellipse">
            <a:avLst/>
          </a:prstGeom>
          <a:solidFill>
            <a:srgbClr val="2ECC71">
              <a:alpha val="4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437412" y="2693274"/>
            <a:ext cx="110660" cy="110660"/>
          </a:xfrm>
          <a:prstGeom prst="ellipse">
            <a:avLst/>
          </a:prstGeom>
          <a:solidFill>
            <a:srgbClr val="CBD5E1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259088" y="1304681"/>
            <a:ext cx="68675" cy="68675"/>
          </a:xfrm>
          <a:prstGeom prst="ellipse">
            <a:avLst/>
          </a:prstGeom>
          <a:solidFill>
            <a:srgbClr val="5EEAD4">
              <a:alpha val="7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294305" y="3429943"/>
            <a:ext cx="106616" cy="106616"/>
          </a:xfrm>
          <a:prstGeom prst="ellipse">
            <a:avLst/>
          </a:prstGeom>
          <a:solidFill>
            <a:srgbClr val="14B8A6">
              <a:alpha val="7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717498" y="1539371"/>
            <a:ext cx="64970" cy="64970"/>
          </a:xfrm>
          <a:prstGeom prst="ellipse">
            <a:avLst/>
          </a:prstGeom>
          <a:solidFill>
            <a:srgbClr val="2ECC71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397130" y="2435649"/>
            <a:ext cx="55497" cy="55497"/>
          </a:xfrm>
          <a:prstGeom prst="ellipse">
            <a:avLst/>
          </a:prstGeom>
          <a:solidFill>
            <a:srgbClr val="CBD5E1">
              <a:alpha val="5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933770" y="4353195"/>
            <a:ext cx="68037" cy="68037"/>
          </a:xfrm>
          <a:prstGeom prst="ellipse">
            <a:avLst/>
          </a:prstGeom>
          <a:solidFill>
            <a:srgbClr val="5EEAD4">
              <a:alpha val="3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641052" y="2099121"/>
            <a:ext cx="43663" cy="43663"/>
          </a:xfrm>
          <a:prstGeom prst="ellipse">
            <a:avLst/>
          </a:prstGeom>
          <a:solidFill>
            <a:srgbClr val="14B8A6">
              <a:alpha val="7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317839" y="3410830"/>
            <a:ext cx="84991" cy="84991"/>
          </a:xfrm>
          <a:prstGeom prst="ellipse">
            <a:avLst/>
          </a:prstGeom>
          <a:solidFill>
            <a:srgbClr val="2ECC71">
              <a:alpha val="3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811581" y="1849141"/>
            <a:ext cx="62987" cy="62987"/>
          </a:xfrm>
          <a:prstGeom prst="ellipse">
            <a:avLst/>
          </a:prstGeom>
          <a:solidFill>
            <a:srgbClr val="CBD5E1">
              <a:alpha val="7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049832" y="2970445"/>
            <a:ext cx="101605" cy="101605"/>
          </a:xfrm>
          <a:prstGeom prst="ellipse">
            <a:avLst/>
          </a:prstGeom>
          <a:solidFill>
            <a:srgbClr val="5EEAD4">
              <a:alpha val="4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812415" y="2828145"/>
            <a:ext cx="47428" cy="47428"/>
          </a:xfrm>
          <a:prstGeom prst="ellipse">
            <a:avLst/>
          </a:prstGeom>
          <a:solidFill>
            <a:srgbClr val="14B8A6">
              <a:alpha val="4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193659" y="2928180"/>
            <a:ext cx="64033" cy="64033"/>
          </a:xfrm>
          <a:prstGeom prst="ellipse">
            <a:avLst/>
          </a:prstGeom>
          <a:solidFill>
            <a:srgbClr val="2ECC71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26521" y="432148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Point-Cloud Segmentation for Walkable Tread Detection on Staircases</a:t>
            </a:r>
            <a:endParaRPr lang="en-US" sz="3100" dirty="0"/>
          </a:p>
        </p:txBody>
      </p:sp>
      <p:sp>
        <p:nvSpPr>
          <p:cNvPr id="75" name="Text 73"/>
          <p:cNvSpPr/>
          <p:nvPr/>
        </p:nvSpPr>
        <p:spPr>
          <a:xfrm>
            <a:off x="548640" y="1988869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under sensor noise, for safe stair-climbing robots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548640" y="4206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Nizam Al Anshori ( 1225800010 )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F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Program of Information and Computer Engineering · Politeknik Elektronika Negeri Surabaya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Problem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316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Stairs are everywhere 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Stair-climbing robots constantly meet staircases in human-made environments.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212848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215798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Walkable vs. hazardous 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must tell horizontal treads (safe to step on) from vertical risers and edges.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054096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299923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clouds are noisy 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and depth cameras output 3D points with sensor noise and outliers.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895344"/>
            <a:ext cx="310896" cy="31089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38404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critical   </a:t>
            </a: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mislabeled surface can make the robot slip or fall.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40680" y="132588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/home/claude/report/en/fig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481328"/>
            <a:ext cx="2697480" cy="222145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0" y="4160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point cloud: 4 steps + outliers (color = height)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PAPER ADDS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83880" cy="960120"/>
          </a:xfrm>
          <a:prstGeom prst="roundRect">
            <a:avLst>
              <a:gd name="adj" fmla="val 8571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457200" cy="457200"/>
          </a:xfrm>
          <a:prstGeom prst="ellipse">
            <a:avLst/>
          </a:prstGeom>
          <a:solidFill>
            <a:srgbClr val="0E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156362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synthetic benchmark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7320" y="191109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labeled 4-step staircase point cloud generated from explicit equations, with adjustable LiDAR noise and outliers.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496312"/>
            <a:ext cx="8183880" cy="960120"/>
          </a:xfrm>
          <a:prstGeom prst="roundRect">
            <a:avLst>
              <a:gd name="adj" fmla="val 8571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17320" y="2642616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method comparison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17320" y="299008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classical segmentation methods evaluated under identical data, features, and metrics for a fair, reproducible comparison.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75304"/>
            <a:ext cx="8183880" cy="960120"/>
          </a:xfrm>
          <a:prstGeom prst="roundRect">
            <a:avLst>
              <a:gd name="adj" fmla="val 8571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822192"/>
            <a:ext cx="457200" cy="457200"/>
          </a:xfrm>
          <a:prstGeom prst="ellipse">
            <a:avLst/>
          </a:prstGeom>
          <a:solidFill>
            <a:srgbClr val="0E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17320" y="372160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&amp; safety analysis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sensor-noise sensitivity study, framed around the walkable-class precision required for safe stair climbing.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&amp; PARAMETERS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 Generation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721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Tread — horizontal  (i = 0…3)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~ Uniform(0, w)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~ Uniform(i·d, (i+1)·d)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i·h + εz ,   εz ~ N(0, 0.02²)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843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C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Riser — vertical  (i = 1…3)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729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~ Uniform(0, w)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i·d + εy ,   εy ~ N(0, 0.02²)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~ Uniform((i−1)·h, i·h)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Isotropic LiDAR noise N(0, 0.005²)   </a:t>
            </a: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random outliers</a:t>
            </a:r>
            <a:endParaRPr lang="en-US" sz="1250" dirty="0"/>
          </a:p>
        </p:txBody>
      </p:sp>
      <p:pic>
        <p:nvPicPr>
          <p:cNvPr id="11" name="Image 0" descr="/home/claude/report/en/fig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280160"/>
            <a:ext cx="3063240" cy="25226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0" y="37947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0E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669280" y="38770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15,808</a:t>
            </a:r>
            <a:r>
              <a:rPr lang="en-US" sz="1300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points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669280" y="4279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10,400 tread · 4,800 riser · 608 other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From Points to Surfaces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52728" y="1755648"/>
            <a:ext cx="493776" cy="493776"/>
          </a:xfrm>
          <a:prstGeom prst="ellipse">
            <a:avLst/>
          </a:prstGeom>
          <a:solidFill>
            <a:srgbClr val="0E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52728" y="1755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648" y="23591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cloud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" y="270662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3D points (x, y, z) from the sensor.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500884" y="21031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642616" y="155448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0E2A3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92424" y="1755648"/>
            <a:ext cx="493776" cy="493776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92424" y="1755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52344" y="23591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estimation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70632" y="270662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on k=30 neighbors → nₚ = eigenvector of smallest eigenvalue.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640580" y="21031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782312" y="155448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32120" y="1755648"/>
            <a:ext cx="493776" cy="493776"/>
          </a:xfrm>
          <a:prstGeom prst="ellipse">
            <a:avLst/>
          </a:prstGeom>
          <a:solidFill>
            <a:srgbClr val="0E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32120" y="1755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92040" y="23591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analysis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0328" y="270662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/ orientation / cluster / height cues using |nz|.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780276" y="21031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922008" y="1554480"/>
            <a:ext cx="1993392" cy="1828800"/>
          </a:xfrm>
          <a:prstGeom prst="roundRect">
            <a:avLst>
              <a:gd name="adj" fmla="val 4500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71816" y="1755648"/>
            <a:ext cx="493776" cy="493776"/>
          </a:xfrm>
          <a:prstGeom prst="ellipse">
            <a:avLst/>
          </a:prstGeom>
          <a:solidFill>
            <a:srgbClr val="0E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71816" y="17556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31736" y="23591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50024" y="270662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Tread, Riser, or Other per point.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02920" y="3749040"/>
            <a:ext cx="8183880" cy="914400"/>
          </a:xfrm>
          <a:prstGeom prst="roundRect">
            <a:avLst>
              <a:gd name="adj" fmla="val 8000"/>
            </a:avLst>
          </a:prstGeom>
          <a:solidFill>
            <a:srgbClr val="EF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" y="3950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key:   </a:t>
            </a: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|nz| → 1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horizontal (tread)        </a:t>
            </a: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|nz| → 0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vertical (riser)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BASELINES COMPARED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Segmentation Methods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" y="162763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RANSAC Plane Fitting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horizontal planes (|nz| &gt; 0.9), then keeps only points whose local normal is also vertical.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17720" y="1371600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55464" y="1627632"/>
            <a:ext cx="182880" cy="182880"/>
          </a:xfrm>
          <a:prstGeom prst="ellipse">
            <a:avLst/>
          </a:prstGeom>
          <a:solidFill>
            <a:srgbClr val="0E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48072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PCA + Normal Analysis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892040" y="1993392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each point directly from |nz|: tread if &gt; 0.85, riser if &lt; 0.35, else edge.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035808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0664" y="3291840"/>
            <a:ext cx="182880" cy="182880"/>
          </a:xfrm>
          <a:prstGeom prst="ellipse">
            <a:avLst/>
          </a:prstGeom>
          <a:solidFill>
            <a:srgbClr val="0E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33272" y="32186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DBSCAN + Slope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clustering rejects outliers; valid points are labeled by their local slope.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3035808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55464" y="3291840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48072" y="32186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Height Histogram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892040" y="365760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Treads cluster at discrete heights; peaks in the z-histogram mark the step levels.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IOU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Walkable Class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Method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Acc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Prec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IoU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RANSAC + 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+ 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 + Slope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Histogram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Histogram leads (best F1/IoU); all methods reach precision &gt; 0.93.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53212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 by method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40680" y="1645920"/>
          <a:ext cx="3246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WALKABLE · RED = RISER · GRAY = OTHER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Result vs Ground Truth</a:t>
            </a:r>
            <a:endParaRPr lang="en-US" sz="2900" dirty="0"/>
          </a:p>
        </p:txBody>
      </p:sp>
      <p:pic>
        <p:nvPicPr>
          <p:cNvPr id="4" name="Image 0" descr="/home/claude/report/en/fig_s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7315200" cy="313508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" y="3977640"/>
            <a:ext cx="7132320" cy="713232"/>
          </a:xfrm>
          <a:prstGeom prst="roundRect">
            <a:avLst>
              <a:gd name="adj" fmla="val 10256"/>
            </a:avLst>
          </a:prstGeom>
          <a:solidFill>
            <a:srgbClr val="EF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34440" y="40690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walkable regions closely match ground truth; with precision &gt; 0.93, almost everything marked green is truly a tread.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of Noise on Accuracy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52120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463040"/>
            <a:ext cx="2788920" cy="3017520"/>
          </a:xfrm>
          <a:prstGeom prst="roundRect">
            <a:avLst>
              <a:gd name="adj" fmla="val 3279"/>
            </a:avLst>
          </a:prstGeom>
          <a:solidFill>
            <a:srgbClr val="0E2A3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12648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Monotonic decline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264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0.970</a:t>
            </a:r>
            <a:r>
              <a:rPr lang="en-US" sz="1200" dirty="0">
                <a:solidFill>
                  <a:srgbClr val="AFC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F1 at no noise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12648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2648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0.329</a:t>
            </a:r>
            <a:r>
              <a:rPr lang="en-US" sz="1200" dirty="0">
                <a:solidFill>
                  <a:srgbClr val="AFC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F1 at sigma 0.08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126480" y="3611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up to sigma ≈ 0.02 m; beyond that, normals become unstable.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E2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Safety for Robots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83880" cy="713232"/>
          </a:xfrm>
          <a:prstGeom prst="roundRect">
            <a:avLst>
              <a:gd name="adj" fmla="val 10256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82496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52704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over recall.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positive can make the robot slip — target precision &gt; 0.99 via edge filtering and safety margins.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8183880" cy="713232"/>
          </a:xfrm>
          <a:prstGeom prst="roundRect">
            <a:avLst>
              <a:gd name="adj" fmla="val 10256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" y="2487168"/>
            <a:ext cx="182880" cy="182880"/>
          </a:xfrm>
          <a:prstGeom prst="ellipse">
            <a:avLst/>
          </a:prstGeom>
          <a:solidFill>
            <a:srgbClr val="0E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Noise-aware thresholds.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high-precision sensing or multi-scan temporal filtering; make |nz| thresholds adaptive.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26664"/>
            <a:ext cx="8183880" cy="713232"/>
          </a:xfrm>
          <a:prstGeom prst="roundRect">
            <a:avLst>
              <a:gd name="adj" fmla="val 10256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3291840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313639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edges specially.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nosing is the most dangerous zone — add a dedicated edge class and a no-step margin.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831336"/>
            <a:ext cx="8183880" cy="713232"/>
          </a:xfrm>
          <a:prstGeom prst="roundRect">
            <a:avLst>
              <a:gd name="adj" fmla="val 10256"/>
            </a:avLst>
          </a:prstGeom>
          <a:solidFill>
            <a:srgbClr val="EF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9808" y="4096512"/>
            <a:ext cx="182880" cy="182880"/>
          </a:xfrm>
          <a:prstGeom prst="ellipse">
            <a:avLst/>
          </a:prstGeom>
          <a:solidFill>
            <a:srgbClr val="0E2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394106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Fuse, don't trust alone.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as a first perception layer, not a sole safety guarantee — fuse with IMU/camera.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8351" y="2908923"/>
            <a:ext cx="109708" cy="109708"/>
          </a:xfrm>
          <a:prstGeom prst="ellipse">
            <a:avLst/>
          </a:prstGeom>
          <a:solidFill>
            <a:srgbClr val="14B8A6">
              <a:alpha val="5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70648" y="4325287"/>
            <a:ext cx="57394" cy="57394"/>
          </a:xfrm>
          <a:prstGeom prst="ellipse">
            <a:avLst/>
          </a:prstGeom>
          <a:solidFill>
            <a:srgbClr val="2ECC71">
              <a:alpha val="7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55793" y="1658836"/>
            <a:ext cx="101261" cy="101261"/>
          </a:xfrm>
          <a:prstGeom prst="ellipse">
            <a:avLst/>
          </a:prstGeom>
          <a:solidFill>
            <a:srgbClr val="CBD5E1">
              <a:alpha val="4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22300" y="3658458"/>
            <a:ext cx="93990" cy="93990"/>
          </a:xfrm>
          <a:prstGeom prst="ellipse">
            <a:avLst/>
          </a:prstGeom>
          <a:solidFill>
            <a:srgbClr val="5EEAD4">
              <a:alpha val="7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70473" y="1631711"/>
            <a:ext cx="86380" cy="86380"/>
          </a:xfrm>
          <a:prstGeom prst="ellipse">
            <a:avLst/>
          </a:prstGeom>
          <a:solidFill>
            <a:srgbClr val="14B8A6">
              <a:alpha val="3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93520" y="940815"/>
            <a:ext cx="43887" cy="43887"/>
          </a:xfrm>
          <a:prstGeom prst="ellipse">
            <a:avLst/>
          </a:prstGeom>
          <a:solidFill>
            <a:srgbClr val="2ECC71">
              <a:alpha val="5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23157" y="682660"/>
            <a:ext cx="111800" cy="111800"/>
          </a:xfrm>
          <a:prstGeom prst="ellipse">
            <a:avLst/>
          </a:prstGeom>
          <a:solidFill>
            <a:srgbClr val="CBD5E1">
              <a:alpha val="4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18085" y="3848802"/>
            <a:ext cx="112317" cy="112317"/>
          </a:xfrm>
          <a:prstGeom prst="ellipse">
            <a:avLst/>
          </a:prstGeom>
          <a:solidFill>
            <a:srgbClr val="5EEAD4">
              <a:alpha val="6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92314" y="3101462"/>
            <a:ext cx="84049" cy="84049"/>
          </a:xfrm>
          <a:prstGeom prst="ellipse">
            <a:avLst/>
          </a:prstGeom>
          <a:solidFill>
            <a:srgbClr val="14B8A6">
              <a:alpha val="5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28439" y="1601529"/>
            <a:ext cx="53409" cy="53409"/>
          </a:xfrm>
          <a:prstGeom prst="ellipse">
            <a:avLst/>
          </a:prstGeom>
          <a:solidFill>
            <a:srgbClr val="2ECC7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898443" y="308559"/>
            <a:ext cx="107775" cy="107775"/>
          </a:xfrm>
          <a:prstGeom prst="ellipse">
            <a:avLst/>
          </a:prstGeom>
          <a:solidFill>
            <a:srgbClr val="CBD5E1">
              <a:alpha val="7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82254" y="2044774"/>
            <a:ext cx="112018" cy="112018"/>
          </a:xfrm>
          <a:prstGeom prst="ellipse">
            <a:avLst/>
          </a:prstGeom>
          <a:solidFill>
            <a:srgbClr val="5EEAD4">
              <a:alpha val="5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45669" y="319064"/>
            <a:ext cx="55979" cy="55979"/>
          </a:xfrm>
          <a:prstGeom prst="ellipse">
            <a:avLst/>
          </a:prstGeom>
          <a:solidFill>
            <a:srgbClr val="14B8A6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41628" y="3202983"/>
            <a:ext cx="45321" cy="45321"/>
          </a:xfrm>
          <a:prstGeom prst="ellipse">
            <a:avLst/>
          </a:prstGeom>
          <a:solidFill>
            <a:srgbClr val="2ECC71">
              <a:alpha val="5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48302" y="818754"/>
            <a:ext cx="100364" cy="100364"/>
          </a:xfrm>
          <a:prstGeom prst="ellipse">
            <a:avLst/>
          </a:prstGeom>
          <a:solidFill>
            <a:srgbClr val="CBD5E1">
              <a:alpha val="6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882365" y="4455266"/>
            <a:ext cx="92076" cy="92076"/>
          </a:xfrm>
          <a:prstGeom prst="ellipse">
            <a:avLst/>
          </a:prstGeom>
          <a:solidFill>
            <a:srgbClr val="5EEAD4">
              <a:alpha val="4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32600" y="1864074"/>
            <a:ext cx="62114" cy="62114"/>
          </a:xfrm>
          <a:prstGeom prst="ellipse">
            <a:avLst/>
          </a:prstGeom>
          <a:solidFill>
            <a:srgbClr val="14B8A6">
              <a:alpha val="5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75415" y="2471400"/>
            <a:ext cx="103950" cy="103950"/>
          </a:xfrm>
          <a:prstGeom prst="ellipse">
            <a:avLst/>
          </a:prstGeom>
          <a:solidFill>
            <a:srgbClr val="2ECC7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23487" y="3342134"/>
            <a:ext cx="51974" cy="51974"/>
          </a:xfrm>
          <a:prstGeom prst="ellipse">
            <a:avLst/>
          </a:prstGeom>
          <a:solidFill>
            <a:srgbClr val="CBD5E1">
              <a:alpha val="5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56318" y="3911831"/>
            <a:ext cx="48428" cy="48428"/>
          </a:xfrm>
          <a:prstGeom prst="ellipse">
            <a:avLst/>
          </a:prstGeom>
          <a:solidFill>
            <a:srgbClr val="5EEAD4">
              <a:alpha val="4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793676" y="906713"/>
            <a:ext cx="95343" cy="95343"/>
          </a:xfrm>
          <a:prstGeom prst="ellipse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676557" y="4599670"/>
            <a:ext cx="72832" cy="72832"/>
          </a:xfrm>
          <a:prstGeom prst="ellipse">
            <a:avLst/>
          </a:prstGeom>
          <a:solidFill>
            <a:srgbClr val="2ECC71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520303" y="3250255"/>
            <a:ext cx="59126" cy="59126"/>
          </a:xfrm>
          <a:prstGeom prst="ellipse">
            <a:avLst/>
          </a:prstGeom>
          <a:solidFill>
            <a:srgbClr val="CBD5E1">
              <a:alpha val="4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10603" y="3744693"/>
            <a:ext cx="47113" cy="47113"/>
          </a:xfrm>
          <a:prstGeom prst="ellipse">
            <a:avLst/>
          </a:prstGeom>
          <a:solidFill>
            <a:srgbClr val="5EEAD4">
              <a:alpha val="7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49093" y="2131871"/>
            <a:ext cx="44921" cy="44921"/>
          </a:xfrm>
          <a:prstGeom prst="ellipse">
            <a:avLst/>
          </a:prstGeom>
          <a:solidFill>
            <a:srgbClr val="14B8A6">
              <a:alpha val="6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932075" y="2927346"/>
            <a:ext cx="66775" cy="66775"/>
          </a:xfrm>
          <a:prstGeom prst="ellipse">
            <a:avLst/>
          </a:prstGeom>
          <a:solidFill>
            <a:srgbClr val="2ECC71">
              <a:alpha val="6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766037" y="317339"/>
            <a:ext cx="96418" cy="96418"/>
          </a:xfrm>
          <a:prstGeom prst="ellipse">
            <a:avLst/>
          </a:prstGeom>
          <a:solidFill>
            <a:srgbClr val="CBD5E1">
              <a:alpha val="5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26056" y="3558740"/>
            <a:ext cx="105403" cy="105403"/>
          </a:xfrm>
          <a:prstGeom prst="ellipse">
            <a:avLst/>
          </a:prstGeom>
          <a:solidFill>
            <a:srgbClr val="5EEAD4">
              <a:alpha val="3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99153" y="1419103"/>
            <a:ext cx="43945" cy="43945"/>
          </a:xfrm>
          <a:prstGeom prst="ellipse">
            <a:avLst/>
          </a:prstGeom>
          <a:solidFill>
            <a:srgbClr val="14B8A6">
              <a:alpha val="7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035178" y="2816652"/>
            <a:ext cx="51236" cy="51236"/>
          </a:xfrm>
          <a:prstGeom prst="ellipse">
            <a:avLst/>
          </a:prstGeom>
          <a:solidFill>
            <a:srgbClr val="2ECC71">
              <a:alpha val="7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414965" y="2784275"/>
            <a:ext cx="62253" cy="62253"/>
          </a:xfrm>
          <a:prstGeom prst="ellipse">
            <a:avLst/>
          </a:prstGeom>
          <a:solidFill>
            <a:srgbClr val="CBD5E1">
              <a:alpha val="7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906498" y="1773528"/>
            <a:ext cx="45498" cy="45498"/>
          </a:xfrm>
          <a:prstGeom prst="ellipse">
            <a:avLst/>
          </a:prstGeom>
          <a:solidFill>
            <a:srgbClr val="5EEAD4">
              <a:alpha val="5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857865" y="574632"/>
            <a:ext cx="48726" cy="48726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23341" y="2856477"/>
            <a:ext cx="52630" cy="52630"/>
          </a:xfrm>
          <a:prstGeom prst="ellipse">
            <a:avLst/>
          </a:prstGeom>
          <a:solidFill>
            <a:srgbClr val="2ECC71">
              <a:alpha val="5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61630" y="2466618"/>
            <a:ext cx="44004" cy="44004"/>
          </a:xfrm>
          <a:prstGeom prst="ellipse">
            <a:avLst/>
          </a:prstGeom>
          <a:solidFill>
            <a:srgbClr val="CBD5E1">
              <a:alpha val="4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064179" y="1211278"/>
            <a:ext cx="61455" cy="61455"/>
          </a:xfrm>
          <a:prstGeom prst="ellipse">
            <a:avLst/>
          </a:prstGeom>
          <a:solidFill>
            <a:srgbClr val="5EEAD4">
              <a:alpha val="7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536144" y="2251345"/>
            <a:ext cx="49104" cy="49104"/>
          </a:xfrm>
          <a:prstGeom prst="ellipse">
            <a:avLst/>
          </a:prstGeom>
          <a:solidFill>
            <a:srgbClr val="14B8A6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849508" y="1974376"/>
            <a:ext cx="94326" cy="94326"/>
          </a:xfrm>
          <a:prstGeom prst="ellipse">
            <a:avLst/>
          </a:prstGeom>
          <a:solidFill>
            <a:srgbClr val="2ECC7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861639" y="3202591"/>
            <a:ext cx="61993" cy="61993"/>
          </a:xfrm>
          <a:prstGeom prst="ellipse">
            <a:avLst/>
          </a:prstGeom>
          <a:solidFill>
            <a:srgbClr val="CBD5E1">
              <a:alpha val="4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360893" y="4016881"/>
            <a:ext cx="106537" cy="106537"/>
          </a:xfrm>
          <a:prstGeom prst="ellipse">
            <a:avLst/>
          </a:prstGeom>
          <a:solidFill>
            <a:srgbClr val="5EEAD4">
              <a:alpha val="7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877653" y="3344800"/>
            <a:ext cx="86735" cy="86735"/>
          </a:xfrm>
          <a:prstGeom prst="ellipse">
            <a:avLst/>
          </a:prstGeom>
          <a:solidFill>
            <a:srgbClr val="14B8A6">
              <a:alpha val="7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212646" y="452571"/>
            <a:ext cx="105203" cy="105203"/>
          </a:xfrm>
          <a:prstGeom prst="ellipse">
            <a:avLst/>
          </a:prstGeom>
          <a:solidFill>
            <a:srgbClr val="2ECC71">
              <a:alpha val="6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682549" y="2057082"/>
            <a:ext cx="115203" cy="115203"/>
          </a:xfrm>
          <a:prstGeom prst="ellipse">
            <a:avLst/>
          </a:prstGeom>
          <a:solidFill>
            <a:srgbClr val="CBD5E1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176144" y="481891"/>
            <a:ext cx="76097" cy="76097"/>
          </a:xfrm>
          <a:prstGeom prst="ellipse">
            <a:avLst/>
          </a:prstGeom>
          <a:solidFill>
            <a:srgbClr val="5EEAD4">
              <a:alpha val="4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947280" y="581217"/>
            <a:ext cx="81356" cy="81356"/>
          </a:xfrm>
          <a:prstGeom prst="ellipse">
            <a:avLst/>
          </a:prstGeom>
          <a:solidFill>
            <a:srgbClr val="14B8A6">
              <a:alpha val="7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reproducible baseline for stair perception</a:t>
            </a:r>
            <a:endParaRPr lang="en-US" sz="2600" dirty="0"/>
          </a:p>
        </p:txBody>
      </p:sp>
      <p:sp>
        <p:nvSpPr>
          <p:cNvPr id="49" name="Shape 47"/>
          <p:cNvSpPr/>
          <p:nvPr/>
        </p:nvSpPr>
        <p:spPr>
          <a:xfrm>
            <a:off x="548640" y="1545336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68680" y="143560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+ comparison.  </a:t>
            </a:r>
            <a:r>
              <a:rPr lang="en-US" sz="1300" dirty="0">
                <a:solidFill>
                  <a:srgbClr val="AF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labeled staircase cloud; four methods compared under identical conditions.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48640" y="2322576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68680" y="221284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performance.  </a:t>
            </a:r>
            <a:r>
              <a:rPr lang="en-US" sz="1300" dirty="0">
                <a:solidFill>
                  <a:srgbClr val="AF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histogram and normal analysis reach F1 ≈ 0.88, precision &gt; 0.93.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3099816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68680" y="299008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is decisive.  </a:t>
            </a:r>
            <a:r>
              <a:rPr lang="en-US" sz="1300" dirty="0">
                <a:solidFill>
                  <a:srgbClr val="AF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falls monotonically with noise — sensor quality and preprocessing are key.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48640" y="3877056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68680" y="376732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work.  </a:t>
            </a:r>
            <a:r>
              <a:rPr lang="en-US" sz="1300" dirty="0">
                <a:solidFill>
                  <a:srgbClr val="AF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class, noise-adaptive thresholds, region growing, learning-based detectors, real data.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309360" y="1463040"/>
            <a:ext cx="2377440" cy="2971800"/>
          </a:xfrm>
          <a:prstGeom prst="roundRect">
            <a:avLst>
              <a:gd name="adj" fmla="val 3846"/>
            </a:avLst>
          </a:prstGeom>
          <a:solidFill>
            <a:srgbClr val="133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9224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9224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0.883</a:t>
            </a:r>
            <a:r>
              <a:rPr lang="en-US" sz="1400" dirty="0">
                <a:solidFill>
                  <a:srgbClr val="AFC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F1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6492240" y="2606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0.790</a:t>
            </a:r>
            <a:r>
              <a:rPr lang="en-US" sz="1400" dirty="0">
                <a:solidFill>
                  <a:srgbClr val="AFC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IoU</a:t>
            </a:r>
            <a:endParaRPr lang="en-US" sz="3400" dirty="0"/>
          </a:p>
        </p:txBody>
      </p:sp>
      <p:sp>
        <p:nvSpPr>
          <p:cNvPr id="61" name="Text 59"/>
          <p:cNvSpPr/>
          <p:nvPr/>
        </p:nvSpPr>
        <p:spPr>
          <a:xfrm>
            <a:off x="6492240" y="3246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AF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histogram, walkable class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92240" y="3977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methods · 15.8k points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1100</Words>
  <Application>Microsoft Macintosh PowerPoint</Application>
  <PresentationFormat>On-screen Show (16:9)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Point-Cloud Segmentation for Walkable Tread Detection on Staircases</dc:title>
  <dc:subject>PptxGenJS Presentation</dc:subject>
  <dc:creator>Author Name</dc:creator>
  <cp:lastModifiedBy>Muhammad Nizam Al Anshori</cp:lastModifiedBy>
  <cp:revision>3</cp:revision>
  <dcterms:created xsi:type="dcterms:W3CDTF">2026-06-10T04:25:32Z</dcterms:created>
  <dcterms:modified xsi:type="dcterms:W3CDTF">2026-06-10T04:59:36Z</dcterms:modified>
</cp:coreProperties>
</file>